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83" autoAdjust="0"/>
  </p:normalViewPr>
  <p:slideViewPr>
    <p:cSldViewPr snapToGrid="0" snapToObjects="1">
      <p:cViewPr varScale="1">
        <p:scale>
          <a:sx n="62" d="100"/>
          <a:sy n="62" d="100"/>
        </p:scale>
        <p:origin x="14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30F817-E176-4CAA-BDEE-F165E9F3AC35}" type="datetimeFigureOut">
              <a:rPr lang="en-ZA" smtClean="0"/>
              <a:t>2026/10/02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E0D6E-DB35-4076-934E-50DC776F67F1}" type="slidenum">
              <a:rPr lang="en-ZA" smtClean="0"/>
              <a:t>‹#›</a:t>
            </a:fld>
            <a:endParaRPr lang="en-ZA"/>
          </a:p>
        </p:txBody>
      </p:sp>
    </p:spTree>
    <p:extLst>
      <p:ext uri="{BB962C8B-B14F-4D97-AF65-F5344CB8AC3E}">
        <p14:creationId xmlns:p14="http://schemas.microsoft.com/office/powerpoint/2010/main" val="301124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In modern operating systems, CPU scheduling dictates how tasks share the processor. While batch systems care about total throughput, Audio and Video systems are highly sensitive to timing. If the CPU scheduler delays a media decoding thread, the user experiences audio stuttering or video lag. The problem this project addresses is determining which CPU scheduling algorithm best prevents this lag as the system load increases.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aim of this project was to build a discrete-event simulator in Python to empirically test three standard algorithms. Our specific objectives were to scale the process load from 10 to 50, measure five distinct performance metrics, and ultimately conclude which algorithm is best suited for the strict timing requirements of multimedia systems.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our methodology, we utilized a quantitative approach. The simulator was built in Python, using a fixed random seed to ensure our data collection was completely reproducible. As seen in the flowchart, the system generates the workload, runs the algorithms, calculates the metrics, and exports the data. Notably, I developed an interactive Command Line Interface, allowing the user to manually test specific scenarios or run the full automated scaling experiment.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compared three canonical algorithms. FCFS is non-preemptive and strictly follows arrival order. SRTF is preemptive based on time—it will interrupt a running process if a newly arrived process is shorter. Round Robin is preemptive based on a timer, giving each process a fixed time slice. A quick note on the brief's mention of 'Priority': while the priority attribute was generated as requested, SRTF and RR prioritize time and quantum expiration respectively, adhering to standard OS definitions.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Moving to the results. These graphs show how Waiting and Turnaround times scale from 10 to 50 processes. As expected, SRTF performs best here because it constantly clears the shortest tasks first. FCFS performs the worst; as the load increases, the 'convoy effect' causes short processes to get stuck behind long ones, drastically inflating wait times.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we look at Response Time, Utilization, and Throughput. For Response Time—which measures how long a process waits for its very first CPU cycle—Round Robin and SRTF are vastly superior to FCFS. CPU utilization remains high across the board because our workload generator keeps the CPU busy. Finally, SRTF achieves the highest throughput by rapidly finishing small processes.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directly address the project's investigative questions: SRTF is the mathematical winner for Waiting Time, Turnaround Time, and Throughput. For Response Time, both SRTF and Round Robin perform excellently. Finally, because the workload was continuous, CPU utilization was exceptionally high across all three algorithms, showing no significant difference in raw CPU idle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brings us to the core application: Audio and Video systems. While SRTF has the best raw math for waiting time, Round Robin is actually the best choice for A/V. Why? Because A/V relies on predictable Response Times to prevent buffer starvation. SRTF risks 'starving' a long video-decoding thread if a bunch of short background tasks keep arriving. Round Robin guarantees every thread gets a fair, predictable slice of CPU time, ensuring smooth, uninterrupted playback.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summarize the trade-offs: FCFS is simple but fails under load. SRTF is mathematically optimal for throughput and wait times but carries the risk of starving longer processes and incurs high context-switching overhead. Round Robin is the fairest, preventing starvation and keeping response times low, though its performance heavily depends on tuning the time quantum correctly.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conclusion, this project successfully met all objectives by building a fully interactive simulator and generating quantitative data for scaling workloads. We empirically proved that while SRTF wins in raw throughput and waiting time, Round Robin provides the stable, predictable response times strictly required by soft real-time Audio and Video systems.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Thank you for your attention. The full source code, the interactive simulator, and the detailed IMRAD report have been submitted. I would now like to open the floor to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1962339"/>
            <a:ext cx="10972800" cy="1138773"/>
          </a:xfrm>
          <a:prstGeom prst="rect">
            <a:avLst/>
          </a:prstGeom>
          <a:noFill/>
        </p:spPr>
        <p:txBody>
          <a:bodyPr wrap="square">
            <a:spAutoFit/>
          </a:bodyPr>
          <a:lstStyle/>
          <a:p>
            <a:pPr algn="ctr">
              <a:defRPr sz="3400" b="1">
                <a:solidFill>
                  <a:srgbClr val="232323"/>
                </a:solidFill>
                <a:latin typeface="Arial"/>
              </a:defRPr>
            </a:pPr>
            <a:r>
              <a:rPr dirty="0"/>
              <a:t>Performance Analysis of CPU Scheduling Algorithms for Audio-Video Systems</a:t>
            </a:r>
          </a:p>
        </p:txBody>
      </p:sp>
      <p:sp>
        <p:nvSpPr>
          <p:cNvPr id="3" name="Rectangle 2"/>
          <p:cNvSpPr/>
          <p:nvPr/>
        </p:nvSpPr>
        <p:spPr>
          <a:xfrm>
            <a:off x="731520" y="3359219"/>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7220" y="3666743"/>
            <a:ext cx="10698480" cy="640080"/>
          </a:xfrm>
          <a:prstGeom prst="rect">
            <a:avLst/>
          </a:prstGeom>
          <a:noFill/>
        </p:spPr>
        <p:txBody>
          <a:bodyPr wrap="square">
            <a:spAutoFit/>
          </a:bodyPr>
          <a:lstStyle/>
          <a:p>
            <a:pPr algn="ctr">
              <a:defRPr sz="2500" b="0">
                <a:solidFill>
                  <a:srgbClr val="232323"/>
                </a:solidFill>
                <a:latin typeface="Arial"/>
              </a:defRPr>
            </a:pPr>
            <a:r>
              <a:rPr dirty="0"/>
              <a:t>A Comparative Simulation of FCFS, SRTF, and Round Robin</a:t>
            </a:r>
          </a:p>
        </p:txBody>
      </p:sp>
      <p:sp>
        <p:nvSpPr>
          <p:cNvPr id="8" name="TextBox 7"/>
          <p:cNvSpPr txBox="1"/>
          <p:nvPr/>
        </p:nvSpPr>
        <p:spPr>
          <a:xfrm>
            <a:off x="1371600" y="4306823"/>
            <a:ext cx="9418320" cy="502920"/>
          </a:xfrm>
          <a:prstGeom prst="rect">
            <a:avLst/>
          </a:prstGeom>
          <a:noFill/>
        </p:spPr>
        <p:txBody>
          <a:bodyPr wrap="square">
            <a:spAutoFit/>
          </a:bodyPr>
          <a:lstStyle/>
          <a:p>
            <a:pPr algn="ctr">
              <a:defRPr sz="2300" b="0">
                <a:solidFill>
                  <a:srgbClr val="232323"/>
                </a:solidFill>
                <a:latin typeface="Arial"/>
              </a:defRPr>
            </a:pPr>
            <a:r>
              <a:t>October 19, 2026</a:t>
            </a:r>
          </a:p>
        </p:txBody>
      </p:sp>
      <p:sp>
        <p:nvSpPr>
          <p:cNvPr id="9" name="TextBox 8"/>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The Challenge in Audio-Video Systems</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A/V systems operate as "soft real-time" environments.</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The Problem: Inefficient CPU scheduling causes buffer underruns (audio stutter) and dropped frames (video lag).</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The Goal: Identify the scheduling algorithm that minimizes latency and handles increasing process loads most effectively.</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Visual: (Optional: A simple icon of a video player buffering or a stuttering audio wave).</a:t>
            </a:r>
          </a:p>
        </p:txBody>
      </p:sp>
      <p:sp>
        <p:nvSpPr>
          <p:cNvPr id="8" name="TextBox 7"/>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Project Aim &amp; Objectives</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Aim: Develop an interactive simulator to compare FCFS, SRTF, and Round Robin under scaling workloads.</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1">
                <a:solidFill>
                  <a:srgbClr val="232323"/>
                </a:solidFill>
                <a:latin typeface="Arial"/>
              </a:defRPr>
            </a:pPr>
            <a:r>
              <a:t>Objectives:</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1. Generate workloads scaling from 10 to 50 processes.</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 2. Measure 5 key metrics: Waiting, Turnaround, Response Time, CPU Utilization, and Throughput.</a:t>
            </a:r>
          </a:p>
        </p:txBody>
      </p:sp>
      <p:sp>
        <p:nvSpPr>
          <p:cNvPr id="8" name="TextBox 7"/>
          <p:cNvSpPr txBox="1"/>
          <p:nvPr/>
        </p:nvSpPr>
        <p:spPr>
          <a:xfrm>
            <a:off x="914400" y="4517136"/>
            <a:ext cx="10332720" cy="658368"/>
          </a:xfrm>
          <a:prstGeom prst="rect">
            <a:avLst/>
          </a:prstGeom>
          <a:noFill/>
        </p:spPr>
        <p:txBody>
          <a:bodyPr wrap="square">
            <a:spAutoFit/>
          </a:bodyPr>
          <a:lstStyle/>
          <a:p>
            <a:pPr algn="l">
              <a:defRPr sz="2200" b="0">
                <a:solidFill>
                  <a:srgbClr val="232323"/>
                </a:solidFill>
                <a:latin typeface="Arial"/>
              </a:defRPr>
            </a:pPr>
            <a:r>
              <a:t>• 3. Determine the optimal algorithm specifically for A/V environments.</a:t>
            </a:r>
          </a:p>
        </p:txBody>
      </p:sp>
      <p:sp>
        <p:nvSpPr>
          <p:cNvPr id="9" name="TextBox 8"/>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Methodology &amp; Simulator Architecture</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Tools: Python 3, Matplotlib (visualization), CSV (data logging).</a:t>
            </a:r>
          </a:p>
        </p:txBody>
      </p:sp>
      <p:sp>
        <p:nvSpPr>
          <p:cNvPr id="5" name="TextBox 4"/>
          <p:cNvSpPr txBox="1"/>
          <p:nvPr/>
        </p:nvSpPr>
        <p:spPr>
          <a:xfrm>
            <a:off x="929640" y="1828800"/>
            <a:ext cx="10332720" cy="658368"/>
          </a:xfrm>
          <a:prstGeom prst="rect">
            <a:avLst/>
          </a:prstGeom>
          <a:noFill/>
        </p:spPr>
        <p:txBody>
          <a:bodyPr wrap="square">
            <a:spAutoFit/>
          </a:bodyPr>
          <a:lstStyle/>
          <a:p>
            <a:pPr algn="l">
              <a:defRPr sz="2200" b="0">
                <a:solidFill>
                  <a:srgbClr val="232323"/>
                </a:solidFill>
                <a:latin typeface="Arial"/>
              </a:defRPr>
            </a:pPr>
            <a:r>
              <a:rPr dirty="0"/>
              <a:t>• Data Collection: Quantitative method using controlled simulation (Fixed random seed for reproducibility).</a:t>
            </a:r>
          </a:p>
        </p:txBody>
      </p:sp>
      <p:sp>
        <p:nvSpPr>
          <p:cNvPr id="6" name="TextBox 5"/>
          <p:cNvSpPr txBox="1"/>
          <p:nvPr/>
        </p:nvSpPr>
        <p:spPr>
          <a:xfrm>
            <a:off x="914400" y="2551176"/>
            <a:ext cx="10332720" cy="658368"/>
          </a:xfrm>
          <a:prstGeom prst="rect">
            <a:avLst/>
          </a:prstGeom>
          <a:noFill/>
        </p:spPr>
        <p:txBody>
          <a:bodyPr wrap="square">
            <a:spAutoFit/>
          </a:bodyPr>
          <a:lstStyle/>
          <a:p>
            <a:pPr algn="l">
              <a:defRPr sz="2200" b="0">
                <a:solidFill>
                  <a:srgbClr val="232323"/>
                </a:solidFill>
                <a:latin typeface="Arial"/>
              </a:defRPr>
            </a:pPr>
            <a:r>
              <a:rPr dirty="0"/>
              <a:t>• Interactive CLI: Built a Command Line Interface allowing dynamic selection of algorithms and process loads.</a:t>
            </a:r>
          </a:p>
        </p:txBody>
      </p:sp>
      <p:sp>
        <p:nvSpPr>
          <p:cNvPr id="7" name="TextBox 6"/>
          <p:cNvSpPr txBox="1"/>
          <p:nvPr/>
        </p:nvSpPr>
        <p:spPr>
          <a:xfrm>
            <a:off x="982980" y="3299865"/>
            <a:ext cx="10332720" cy="430887"/>
          </a:xfrm>
          <a:prstGeom prst="rect">
            <a:avLst/>
          </a:prstGeom>
          <a:noFill/>
        </p:spPr>
        <p:txBody>
          <a:bodyPr wrap="square">
            <a:spAutoFit/>
          </a:bodyPr>
          <a:lstStyle/>
          <a:p>
            <a:pPr algn="ctr">
              <a:defRPr sz="2200" b="0">
                <a:solidFill>
                  <a:srgbClr val="232323"/>
                </a:solidFill>
                <a:latin typeface="Arial"/>
              </a:defRPr>
            </a:pPr>
            <a:r>
              <a:rPr dirty="0"/>
              <a:t>Visual </a:t>
            </a:r>
          </a:p>
        </p:txBody>
      </p:sp>
      <p:sp>
        <p:nvSpPr>
          <p:cNvPr id="8" name="TextBox 7"/>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4</a:t>
            </a:r>
          </a:p>
        </p:txBody>
      </p:sp>
      <p:pic>
        <p:nvPicPr>
          <p:cNvPr id="12" name="Picture 11">
            <a:extLst>
              <a:ext uri="{FF2B5EF4-FFF2-40B4-BE49-F238E27FC236}">
                <a16:creationId xmlns:a16="http://schemas.microsoft.com/office/drawing/2014/main" id="{A994ED9C-08A3-0EE6-5ECA-5952FFD1C412}"/>
              </a:ext>
            </a:extLst>
          </p:cNvPr>
          <p:cNvPicPr>
            <a:picLocks noChangeAspect="1"/>
          </p:cNvPicPr>
          <p:nvPr/>
        </p:nvPicPr>
        <p:blipFill>
          <a:blip r:embed="rId3"/>
          <a:stretch>
            <a:fillRect/>
          </a:stretch>
        </p:blipFill>
        <p:spPr>
          <a:xfrm>
            <a:off x="1334125" y="3730752"/>
            <a:ext cx="8739266" cy="21538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Scheduling Algorithms Implemented</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FCFS (First-Come, First-Served): Non-preemptive. Executes strictly by arrival order.</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SRTF (Shortest Remaining Time First): Preemptive. Interrupts current process if a new one has a shorter remaining time.</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Round Robin (RR): Preemptive. Allocates a fixed time quantum; cycles processes through a ready queue.</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 Note: Priority attribute generated for data completeness per brief requirements.</a:t>
            </a:r>
          </a:p>
        </p:txBody>
      </p:sp>
      <p:sp>
        <p:nvSpPr>
          <p:cNvPr id="8" name="TextBox 7"/>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Results: Waiting &amp; Turnaround Time</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Visual: [Insert the "Waiting Time Comparison" and "Turnaround Time Comparison" graphs here]</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SRTF consistently yields the lowest Waiting and Turnaround times.</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FCFS shows the steepest degradation due to the "Convoy Effect".</a:t>
            </a:r>
          </a:p>
        </p:txBody>
      </p:sp>
      <p:sp>
        <p:nvSpPr>
          <p:cNvPr id="7" name="TextBox 6"/>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Results: Response Time, Utilization &amp; Throughput</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Visual: [Insert the "Response Time", "CPU Utilization", and "Throughput" graphs here]</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Response Time: RR and SRTF excel; FCFS degrades severely.</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CPU Utilization: Remains consistently high (&gt;90%) across all algorithms.</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 Throughput: SRTF completes the highest volume of processes per unit of time.</a:t>
            </a:r>
          </a:p>
        </p:txBody>
      </p:sp>
      <p:sp>
        <p:nvSpPr>
          <p:cNvPr id="8" name="TextBox 7"/>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Investigative Questions Answered</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1. Minimises Waiting Time? ➔ SRTF</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2. Best Turnaround Time? ➔ SRTF</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3. Best Response Time? ➔ Round Robin &amp; SRTF</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 4. Higher Throughput? ➔ SRTF</a:t>
            </a:r>
          </a:p>
        </p:txBody>
      </p:sp>
      <p:sp>
        <p:nvSpPr>
          <p:cNvPr id="8" name="TextBox 7"/>
          <p:cNvSpPr txBox="1"/>
          <p:nvPr/>
        </p:nvSpPr>
        <p:spPr>
          <a:xfrm>
            <a:off x="914400" y="4517136"/>
            <a:ext cx="10332720" cy="658368"/>
          </a:xfrm>
          <a:prstGeom prst="rect">
            <a:avLst/>
          </a:prstGeom>
          <a:noFill/>
        </p:spPr>
        <p:txBody>
          <a:bodyPr wrap="square">
            <a:spAutoFit/>
          </a:bodyPr>
          <a:lstStyle/>
          <a:p>
            <a:pPr algn="l">
              <a:defRPr sz="2200" b="0">
                <a:solidFill>
                  <a:srgbClr val="232323"/>
                </a:solidFill>
                <a:latin typeface="Arial"/>
              </a:defRPr>
            </a:pPr>
            <a:r>
              <a:t>• 5. Higher CPU Utilisation? ➔ All (Tied, highly efficient)</a:t>
            </a:r>
          </a:p>
        </p:txBody>
      </p:sp>
      <p:sp>
        <p:nvSpPr>
          <p:cNvPr id="9" name="TextBox 8"/>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Application to A/V Systems</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The Winner: Round Robin (RR) (with a tuned time quantum).</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Why? A/V systems prioritize Response Time and Predictability over raw throughput.</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The Risk of SRTF: "Starvation" of long media-decoding threads if short background tasks keep arriving.</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 The Risk of FCFS: Unacceptable initial lag (high response time).</a:t>
            </a:r>
          </a:p>
        </p:txBody>
      </p:sp>
      <p:sp>
        <p:nvSpPr>
          <p:cNvPr id="8" name="TextBox 7"/>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Algorithm Trade-offs</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FCFS: (+) Simple, low overhead. (-) Convoy effect, terrible response time.</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SRTF: (+) Optimal wait/turnaround time. (-) Context switch overhead, starvation risk.</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Round Robin: (+) Fair, predictable response, no starvation. (-) Throughput drops if quantum is poorly tuned.</a:t>
            </a:r>
          </a:p>
        </p:txBody>
      </p:sp>
      <p:sp>
        <p:nvSpPr>
          <p:cNvPr id="7" name="TextBox 6"/>
          <p:cNvSpPr txBox="1"/>
          <p:nvPr/>
        </p:nvSpPr>
        <p:spPr>
          <a:xfrm>
            <a:off x="914400" y="3730752"/>
            <a:ext cx="10332720" cy="658368"/>
          </a:xfrm>
          <a:prstGeom prst="rect">
            <a:avLst/>
          </a:prstGeom>
          <a:noFill/>
        </p:spPr>
        <p:txBody>
          <a:bodyPr wrap="square">
            <a:spAutoFit/>
          </a:bodyPr>
          <a:lstStyle/>
          <a:p>
            <a:pPr algn="l">
              <a:defRPr sz="2200" b="0">
                <a:solidFill>
                  <a:srgbClr val="232323"/>
                </a:solidFill>
                <a:latin typeface="Arial"/>
              </a:defRPr>
            </a:pPr>
            <a:r>
              <a:t>Visual: (Create a simple 3-column table or 3 boxes)</a:t>
            </a:r>
          </a:p>
        </p:txBody>
      </p:sp>
      <p:sp>
        <p:nvSpPr>
          <p:cNvPr id="8" name="TextBox 7"/>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Conclusion</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Successfully developed an interactive Python simulator for CPU scheduling.</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Empirically proved SRTF's superiority in throughput and wait times.</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Concluded that Round Robin provides the most stable, predictable environment required for soft real-time Audio-Video systems.</a:t>
            </a:r>
          </a:p>
        </p:txBody>
      </p:sp>
      <p:sp>
        <p:nvSpPr>
          <p:cNvPr id="7" name="TextBox 6"/>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square">
            <a:spAutoFit/>
          </a:bodyPr>
          <a:lstStyle/>
          <a:p>
            <a:pPr algn="l">
              <a:defRPr sz="3400" b="1">
                <a:solidFill>
                  <a:srgbClr val="232323"/>
                </a:solidFill>
                <a:latin typeface="Arial"/>
              </a:defRPr>
            </a:pPr>
            <a:r>
              <a:t>Questions &amp; References</a:t>
            </a:r>
          </a:p>
        </p:txBody>
      </p:sp>
      <p:sp>
        <p:nvSpPr>
          <p:cNvPr id="3" name="Rectangle 2"/>
          <p:cNvSpPr/>
          <p:nvPr/>
        </p:nvSpPr>
        <p:spPr>
          <a:xfrm>
            <a:off x="594360" y="1078992"/>
            <a:ext cx="10972800" cy="32004"/>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32720" cy="658368"/>
          </a:xfrm>
          <a:prstGeom prst="rect">
            <a:avLst/>
          </a:prstGeom>
          <a:noFill/>
        </p:spPr>
        <p:txBody>
          <a:bodyPr wrap="square">
            <a:spAutoFit/>
          </a:bodyPr>
          <a:lstStyle/>
          <a:p>
            <a:pPr algn="l">
              <a:defRPr sz="2200" b="0">
                <a:solidFill>
                  <a:srgbClr val="232323"/>
                </a:solidFill>
                <a:latin typeface="Arial"/>
              </a:defRPr>
            </a:pPr>
            <a:r>
              <a:t>• Thank you for your time.</a:t>
            </a:r>
          </a:p>
        </p:txBody>
      </p:sp>
      <p:sp>
        <p:nvSpPr>
          <p:cNvPr id="5" name="TextBox 4"/>
          <p:cNvSpPr txBox="1"/>
          <p:nvPr/>
        </p:nvSpPr>
        <p:spPr>
          <a:xfrm>
            <a:off x="914400" y="2157984"/>
            <a:ext cx="10332720" cy="658368"/>
          </a:xfrm>
          <a:prstGeom prst="rect">
            <a:avLst/>
          </a:prstGeom>
          <a:noFill/>
        </p:spPr>
        <p:txBody>
          <a:bodyPr wrap="square">
            <a:spAutoFit/>
          </a:bodyPr>
          <a:lstStyle/>
          <a:p>
            <a:pPr algn="l">
              <a:defRPr sz="2200" b="0">
                <a:solidFill>
                  <a:srgbClr val="232323"/>
                </a:solidFill>
                <a:latin typeface="Arial"/>
              </a:defRPr>
            </a:pPr>
            <a:r>
              <a:t>• Questions?</a:t>
            </a:r>
          </a:p>
        </p:txBody>
      </p:sp>
      <p:sp>
        <p:nvSpPr>
          <p:cNvPr id="6" name="TextBox 5"/>
          <p:cNvSpPr txBox="1"/>
          <p:nvPr/>
        </p:nvSpPr>
        <p:spPr>
          <a:xfrm>
            <a:off x="914400" y="2944368"/>
            <a:ext cx="10332720" cy="658368"/>
          </a:xfrm>
          <a:prstGeom prst="rect">
            <a:avLst/>
          </a:prstGeom>
          <a:noFill/>
        </p:spPr>
        <p:txBody>
          <a:bodyPr wrap="square">
            <a:spAutoFit/>
          </a:bodyPr>
          <a:lstStyle/>
          <a:p>
            <a:pPr algn="l">
              <a:defRPr sz="2200" b="0">
                <a:solidFill>
                  <a:srgbClr val="232323"/>
                </a:solidFill>
                <a:latin typeface="Arial"/>
              </a:defRPr>
            </a:pPr>
            <a:r>
              <a:t>• References: Silberschatz et al., Operating System Concepts (10th Ed.); Stallings, Operating Systems (9th Ed.).</a:t>
            </a:r>
          </a:p>
        </p:txBody>
      </p:sp>
      <p:sp>
        <p:nvSpPr>
          <p:cNvPr id="7" name="TextBox 6"/>
          <p:cNvSpPr txBox="1"/>
          <p:nvPr/>
        </p:nvSpPr>
        <p:spPr>
          <a:xfrm>
            <a:off x="11064240" y="6446520"/>
            <a:ext cx="502920" cy="228600"/>
          </a:xfrm>
          <a:prstGeom prst="rect">
            <a:avLst/>
          </a:prstGeom>
          <a:noFill/>
        </p:spPr>
        <p:txBody>
          <a:bodyPr wrap="square">
            <a:spAutoFit/>
          </a:bodyPr>
          <a:lstStyle/>
          <a:p>
            <a:pPr algn="r">
              <a:defRPr sz="1100" b="0">
                <a:solidFill>
                  <a:srgbClr val="232323"/>
                </a:solidFill>
                <a:latin typeface="Aria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1454</Words>
  <Application>Microsoft Office PowerPoint</Application>
  <PresentationFormat>Widescreen</PresentationFormat>
  <Paragraphs>80</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 Masiteng</cp:lastModifiedBy>
  <cp:revision>2</cp:revision>
  <dcterms:created xsi:type="dcterms:W3CDTF">2013-01-27T09:14:16Z</dcterms:created>
  <dcterms:modified xsi:type="dcterms:W3CDTF">2026-10-02T06:17:44Z</dcterms:modified>
  <cp:category/>
</cp:coreProperties>
</file>